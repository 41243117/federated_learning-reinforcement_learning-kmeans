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Noto Sans T Chinese Bold" charset="1" panose="020B0800000000000000"/>
      <p:regular r:id="rId7"/>
    </p:embeddedFont>
    <p:embeddedFont>
      <p:font typeface="Noto Sans T Chinese" charset="1" panose="020B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svg" Type="http://schemas.openxmlformats.org/officeDocument/2006/relationships/image"/><Relationship Id="rId13" Target="../media/image12.sv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06" y="-1112"/>
            <a:ext cx="15096475" cy="21388890"/>
          </a:xfrm>
          <a:custGeom>
            <a:avLst/>
            <a:gdLst/>
            <a:ahLst/>
            <a:cxnLst/>
            <a:rect r="r" b="b" t="t" l="l"/>
            <a:pathLst>
              <a:path h="21388890" w="15096475">
                <a:moveTo>
                  <a:pt x="0" y="0"/>
                </a:moveTo>
                <a:lnTo>
                  <a:pt x="15096475" y="0"/>
                </a:lnTo>
                <a:lnTo>
                  <a:pt x="15096475" y="21388890"/>
                </a:lnTo>
                <a:lnTo>
                  <a:pt x="0" y="21388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6" y="-1112"/>
            <a:ext cx="15096475" cy="21388890"/>
          </a:xfrm>
          <a:custGeom>
            <a:avLst/>
            <a:gdLst/>
            <a:ahLst/>
            <a:cxnLst/>
            <a:rect r="r" b="b" t="t" l="l"/>
            <a:pathLst>
              <a:path h="21388890" w="15096475">
                <a:moveTo>
                  <a:pt x="0" y="0"/>
                </a:moveTo>
                <a:lnTo>
                  <a:pt x="15096475" y="0"/>
                </a:lnTo>
                <a:lnTo>
                  <a:pt x="15096475" y="21388890"/>
                </a:lnTo>
                <a:lnTo>
                  <a:pt x="0" y="21388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930" y="3941418"/>
            <a:ext cx="14741475" cy="3674274"/>
          </a:xfrm>
          <a:custGeom>
            <a:avLst/>
            <a:gdLst/>
            <a:ahLst/>
            <a:cxnLst/>
            <a:rect r="r" b="b" t="t" l="l"/>
            <a:pathLst>
              <a:path h="3674274" w="14741475">
                <a:moveTo>
                  <a:pt x="0" y="0"/>
                </a:moveTo>
                <a:lnTo>
                  <a:pt x="14741475" y="0"/>
                </a:lnTo>
                <a:lnTo>
                  <a:pt x="14741475" y="3674274"/>
                </a:lnTo>
                <a:lnTo>
                  <a:pt x="0" y="3674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147" y="8001931"/>
            <a:ext cx="14741475" cy="3505650"/>
          </a:xfrm>
          <a:custGeom>
            <a:avLst/>
            <a:gdLst/>
            <a:ahLst/>
            <a:cxnLst/>
            <a:rect r="r" b="b" t="t" l="l"/>
            <a:pathLst>
              <a:path h="3505650" w="14741475">
                <a:moveTo>
                  <a:pt x="0" y="0"/>
                </a:moveTo>
                <a:lnTo>
                  <a:pt x="14741475" y="0"/>
                </a:lnTo>
                <a:lnTo>
                  <a:pt x="14741475" y="3505650"/>
                </a:lnTo>
                <a:lnTo>
                  <a:pt x="0" y="3505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22225" y="4498911"/>
            <a:ext cx="141999" cy="141999"/>
          </a:xfrm>
          <a:custGeom>
            <a:avLst/>
            <a:gdLst/>
            <a:ahLst/>
            <a:cxnLst/>
            <a:rect r="r" b="b" t="t" l="l"/>
            <a:pathLst>
              <a:path h="141999" w="141999">
                <a:moveTo>
                  <a:pt x="0" y="0"/>
                </a:moveTo>
                <a:lnTo>
                  <a:pt x="141999" y="0"/>
                </a:lnTo>
                <a:lnTo>
                  <a:pt x="141999" y="141998"/>
                </a:lnTo>
                <a:lnTo>
                  <a:pt x="0" y="1419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22225" y="5488634"/>
            <a:ext cx="141999" cy="141999"/>
          </a:xfrm>
          <a:custGeom>
            <a:avLst/>
            <a:gdLst/>
            <a:ahLst/>
            <a:cxnLst/>
            <a:rect r="r" b="b" t="t" l="l"/>
            <a:pathLst>
              <a:path h="141999" w="141999">
                <a:moveTo>
                  <a:pt x="0" y="0"/>
                </a:moveTo>
                <a:lnTo>
                  <a:pt x="141999" y="0"/>
                </a:lnTo>
                <a:lnTo>
                  <a:pt x="141999" y="141999"/>
                </a:lnTo>
                <a:lnTo>
                  <a:pt x="0" y="1419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22225" y="8578725"/>
            <a:ext cx="141999" cy="141999"/>
          </a:xfrm>
          <a:custGeom>
            <a:avLst/>
            <a:gdLst/>
            <a:ahLst/>
            <a:cxnLst/>
            <a:rect r="r" b="b" t="t" l="l"/>
            <a:pathLst>
              <a:path h="141999" w="141999">
                <a:moveTo>
                  <a:pt x="0" y="0"/>
                </a:moveTo>
                <a:lnTo>
                  <a:pt x="141999" y="0"/>
                </a:lnTo>
                <a:lnTo>
                  <a:pt x="141999" y="141999"/>
                </a:lnTo>
                <a:lnTo>
                  <a:pt x="0" y="1419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22225" y="9541758"/>
            <a:ext cx="141999" cy="141999"/>
          </a:xfrm>
          <a:custGeom>
            <a:avLst/>
            <a:gdLst/>
            <a:ahLst/>
            <a:cxnLst/>
            <a:rect r="r" b="b" t="t" l="l"/>
            <a:pathLst>
              <a:path h="141999" w="141999">
                <a:moveTo>
                  <a:pt x="0" y="0"/>
                </a:moveTo>
                <a:lnTo>
                  <a:pt x="141999" y="0"/>
                </a:lnTo>
                <a:lnTo>
                  <a:pt x="141999" y="141998"/>
                </a:lnTo>
                <a:lnTo>
                  <a:pt x="0" y="1419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45374" y="13118779"/>
            <a:ext cx="9643019" cy="7557716"/>
          </a:xfrm>
          <a:custGeom>
            <a:avLst/>
            <a:gdLst/>
            <a:ahLst/>
            <a:cxnLst/>
            <a:rect r="r" b="b" t="t" l="l"/>
            <a:pathLst>
              <a:path h="7557716" w="9643019">
                <a:moveTo>
                  <a:pt x="0" y="0"/>
                </a:moveTo>
                <a:lnTo>
                  <a:pt x="9643020" y="0"/>
                </a:lnTo>
                <a:lnTo>
                  <a:pt x="9643020" y="7557716"/>
                </a:lnTo>
                <a:lnTo>
                  <a:pt x="0" y="7557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3568" y="736460"/>
            <a:ext cx="14713170" cy="77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5"/>
              </a:lnSpc>
            </a:pPr>
            <a:r>
              <a:rPr lang="en-US" b="true" sz="4589">
                <a:solidFill>
                  <a:srgbClr val="E3DFC3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結合分群聚合與強</a:t>
            </a:r>
            <a:r>
              <a:rPr lang="en-US" b="true" sz="4589">
                <a:solidFill>
                  <a:srgbClr val="E3DFC3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化學習偵測惡意客戶端的聯邦學習架構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58848" y="2181988"/>
            <a:ext cx="117603" cy="73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053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3568" y="1641516"/>
            <a:ext cx="14648837" cy="118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397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A Federated Learning Framework with Cluster-Based Aggregation for Malicious Client Detection Using Reinforcement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9590" y="3230460"/>
            <a:ext cx="7383702" cy="61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3633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參與成員：吳承璿、林聖紘、陳志杰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50788" y="3230460"/>
            <a:ext cx="3765592" cy="63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7"/>
              </a:lnSpc>
            </a:pPr>
            <a:r>
              <a:rPr lang="en-US" sz="3633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指導教授：江季翰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3168" y="20735083"/>
            <a:ext cx="6086216" cy="61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1"/>
              </a:lnSpc>
            </a:pPr>
            <a:r>
              <a:rPr lang="en-US" sz="3493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國⽴虎尾科技⼤學 資訊⼯程系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8846" y="5366878"/>
            <a:ext cx="1086307" cy="74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0"/>
              </a:lnSpc>
            </a:pPr>
            <a:r>
              <a:rPr lang="en-US" sz="419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動機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663" y="9271547"/>
            <a:ext cx="1086307" cy="74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0"/>
              </a:lnSpc>
            </a:pPr>
            <a:r>
              <a:rPr lang="en-US" sz="419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⽬的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6147" y="12174331"/>
            <a:ext cx="15107294" cy="75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8"/>
              </a:lnSpc>
            </a:pPr>
            <a:r>
              <a:rPr lang="en-US" sz="4442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結合分群聚合與強化學習偵測惡意客戶端的聯邦學習</a:t>
            </a:r>
            <a:r>
              <a:rPr lang="en-US" sz="4442">
                <a:solidFill>
                  <a:srgbClr val="E3DFC3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架構圖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5374" y="8194546"/>
            <a:ext cx="12201140" cy="100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7"/>
              </a:lnSpc>
            </a:pPr>
            <a:r>
              <a:rPr lang="en-US" sz="2936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利用 K-means 進行客戶端特徵分群 ，並使用強</a:t>
            </a:r>
            <a:r>
              <a:rPr lang="en-US" sz="2936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化學習的 DQN（Deep Q-Network）演算法來動態決定各群權重與過濾惡意更新 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33300" y="4279571"/>
            <a:ext cx="12189106" cy="100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7"/>
              </a:lnSpc>
            </a:pPr>
            <a:r>
              <a:rPr lang="en-US" sz="2936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現有研究</a:t>
            </a:r>
            <a:r>
              <a:rPr lang="en-US" sz="2936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雖然指出，在聚合前先對資料進行分類有助於提升模型更新效率，但進一步將此方法應用於強化防禦機制的相關探討仍相對有限。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45374" y="9332627"/>
            <a:ext cx="12189065" cy="203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使用K-means 分群演算法與 DQN 強化學習驅動決策的自動化工具 ，我們的目標是幫助聯邦學習（FL）系統維護與安全研究人員 ，能夠有效地在 Non-IID 環境下偵測並濾除惡意客戶端的攻擊與更新 ，提升全域模型的安全性和收斂穩定性 ，同時降低潛在的模型被污染風險 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33300" y="5253889"/>
            <a:ext cx="12189106" cy="101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強化學習（RL）具備良好的動態調整與學習能力，因此相當適合應用在應對變化快速的聯邦學習資安攻擊上。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45374" y="6238282"/>
            <a:ext cx="12201140" cy="101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16"/>
              </a:lnSpc>
              <a:spcBef>
                <a:spcPct val="0"/>
              </a:spcBef>
            </a:pPr>
            <a:r>
              <a:rPr lang="en-US" sz="294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因此，本專題嘗試結合「分群分類」與「強化學習」兩種方法，期望建構一套兼具安全性與效率</a:t>
            </a:r>
            <a:r>
              <a:rPr lang="en-US" sz="294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的聯邦學習防禦架構。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422225" y="6480919"/>
            <a:ext cx="141999" cy="141999"/>
          </a:xfrm>
          <a:custGeom>
            <a:avLst/>
            <a:gdLst/>
            <a:ahLst/>
            <a:cxnLst/>
            <a:rect r="r" b="b" t="t" l="l"/>
            <a:pathLst>
              <a:path h="141999" w="141999">
                <a:moveTo>
                  <a:pt x="0" y="0"/>
                </a:moveTo>
                <a:lnTo>
                  <a:pt x="141999" y="0"/>
                </a:lnTo>
                <a:lnTo>
                  <a:pt x="141999" y="141999"/>
                </a:lnTo>
                <a:lnTo>
                  <a:pt x="0" y="1419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DAHKql5WKzQ</dc:identifier>
  <dcterms:modified xsi:type="dcterms:W3CDTF">2011-08-01T06:04:30Z</dcterms:modified>
  <cp:revision>1</cp:revision>
  <dc:title>結合分群聚合與強化學習偵測惡意客戶端的聯邦學習架構</dc:title>
</cp:coreProperties>
</file>