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4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01E248-7F04-44A3-89EE-48A9C4C2FFF6}" v="10" dt="2026-05-26T16:41:59.1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37"/>
  </p:normalViewPr>
  <p:slideViewPr>
    <p:cSldViewPr snapToGrid="0">
      <p:cViewPr varScale="1">
        <p:scale>
          <a:sx n="103" d="100"/>
          <a:sy n="103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AF55C-92EA-4D13-B619-D1D80A28C753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8527D-2798-490D-80EB-B2B2C4AA76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49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DD31-B4F9-4E7B-BA22-3B306C55A5E5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1pPr>
            <a:lvl2pPr>
              <a:defRPr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2pPr>
            <a:lvl3pPr>
              <a:defRPr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3pPr>
            <a:lvl4pPr>
              <a:defRPr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4pPr>
            <a:lvl5pPr>
              <a:defRPr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B9FCA-A9E2-439E-A7BA-A0456184C29C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FD33-B3AA-484D-B765-2DCCCAB96A3D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FE983-7D02-41CC-8EC5-9630A8893AC6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3B4F-B4EC-4F94-B6BC-FC6FE6B104C3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7BFF-EA1F-4BC3-BC61-535F78ED225D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570F7-746D-47DB-AB0B-5034F14B43EA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6B48EF-8374-40D2-8D30-4E4A75309974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1E1B1-64B1-4A86-9BAF-F08D7A971A0B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93D8-163C-4F61-9F8B-EC6431022958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A041B-91CF-408C-BED7-0D779BFA0289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1508F44-BFCD-4618-99C4-94997F96950E}" type="datetime1">
              <a:rPr lang="en-US" altLang="zh-TW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5AA19-8A83-75FA-4F10-533C60A7FD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結合分群聚合與強化學習偵測惡意客戶端的聯邦學習架構</a:t>
            </a:r>
            <a:br>
              <a:rPr lang="en-US" altLang="zh-TW" sz="4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" altLang="zh-TW" sz="4000" dirty="0"/>
              <a:t>A Federated Learning Framework Combining Clustering-Based Aggregation and Reinforcement Learning-Based Malicious Client Detection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737180-1D2A-821D-6A7A-0DB1FA4168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吳承璿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林聖紘  陳志杰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2026/05/27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640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03181-E93A-200F-1C33-7D7F3277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D55D34-4456-50FE-AC3D-F68D0DA90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實驗背景</a:t>
            </a:r>
            <a:endParaRPr lang="en-US" altLang="zh-TW" sz="2400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實驗動機</a:t>
            </a:r>
            <a:endParaRPr lang="en-US" altLang="zh-TW" sz="2400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實驗目標</a:t>
            </a:r>
            <a:endParaRPr lang="en-US" altLang="zh-TW" sz="2400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資料集類別</a:t>
            </a:r>
            <a:endParaRPr lang="en-US" altLang="zh-TW" sz="2400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攻擊方式</a:t>
            </a:r>
            <a:endParaRPr lang="en-US" altLang="zh-TW" sz="2400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實驗設計</a:t>
            </a:r>
            <a:endParaRPr lang="en-US" altLang="zh-TW" sz="2400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sz="2400" dirty="0">
                <a:cs typeface="Calibri"/>
              </a:rPr>
              <a:t>實驗結果</a:t>
            </a:r>
          </a:p>
        </p:txBody>
      </p:sp>
    </p:spTree>
    <p:extLst>
      <p:ext uri="{BB962C8B-B14F-4D97-AF65-F5344CB8AC3E}">
        <p14:creationId xmlns:p14="http://schemas.microsoft.com/office/powerpoint/2010/main" val="321960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68E3E0-C69B-8095-1D66-2779C107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Calibri"/>
              </a:rPr>
              <a:t>實驗背景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678175-EA14-1BFF-64E4-FA677383E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dirty="0">
                <a:cs typeface="Calibri"/>
              </a:rPr>
              <a:t>聯邦學習讓資料保留在本地端</a:t>
            </a: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en-US" altLang="zh-TW" dirty="0">
                <a:cs typeface="Calibri"/>
              </a:rPr>
              <a:t>Client </a:t>
            </a:r>
            <a:r>
              <a:rPr lang="zh-TW" altLang="en-US" dirty="0">
                <a:cs typeface="Calibri"/>
              </a:rPr>
              <a:t>只回傳模型更新，不直接上傳原始資料</a:t>
            </a: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en-US" altLang="zh-TW" dirty="0">
                <a:cs typeface="Calibri"/>
              </a:rPr>
              <a:t>Server </a:t>
            </a:r>
            <a:r>
              <a:rPr lang="zh-TW" altLang="en-US" dirty="0">
                <a:cs typeface="Calibri"/>
              </a:rPr>
              <a:t>聚合多個 </a:t>
            </a:r>
            <a:r>
              <a:rPr lang="en-US" altLang="zh-TW" dirty="0">
                <a:cs typeface="Calibri"/>
              </a:rPr>
              <a:t>Client </a:t>
            </a:r>
            <a:r>
              <a:rPr lang="zh-TW" altLang="en-US" dirty="0">
                <a:cs typeface="Calibri"/>
              </a:rPr>
              <a:t>的模型，形成全新的 </a:t>
            </a:r>
            <a:r>
              <a:rPr lang="en-US" altLang="zh-TW" dirty="0">
                <a:cs typeface="Calibri"/>
              </a:rPr>
              <a:t>Global Model</a:t>
            </a:r>
            <a:endParaRPr lang="zh-TW" altLang="en-US" dirty="0">
              <a:cs typeface="Calibri"/>
            </a:endParaRPr>
          </a:p>
        </p:txBody>
      </p:sp>
      <p:pic>
        <p:nvPicPr>
          <p:cNvPr id="4" name="Picture 2" descr="來自">
            <a:extLst>
              <a:ext uri="{FF2B5EF4-FFF2-40B4-BE49-F238E27FC236}">
                <a16:creationId xmlns:a16="http://schemas.microsoft.com/office/drawing/2014/main" id="{5163DC4F-4730-4B3B-2F8C-67EFA1985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365" y="3311502"/>
            <a:ext cx="6257270" cy="354649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934C00-B571-C1B9-2216-2106B5CA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2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FAA85-75B1-BF60-C406-03B592D2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Calibri"/>
              </a:rPr>
              <a:t>實驗動機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D3C51-3B73-4262-C24D-B1DDF1094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b="1" dirty="0"/>
              <a:t>Non-IID</a:t>
            </a:r>
            <a:r>
              <a:rPr lang="zh-TW" altLang="en-US" b="1" dirty="0"/>
              <a:t> 的資料分布</a:t>
            </a:r>
            <a:r>
              <a:rPr lang="zh-TW" altLang="en-US" dirty="0"/>
              <a:t>：不同 </a:t>
            </a:r>
            <a:r>
              <a:rPr lang="en-US" altLang="zh-TW" dirty="0"/>
              <a:t>Client </a:t>
            </a:r>
            <a:r>
              <a:rPr lang="zh-TW" altLang="en-US" dirty="0"/>
              <a:t>的資料類別比例不同，導致模型更新方向差異大</a:t>
            </a:r>
            <a:endParaRPr lang="en-US" altLang="zh-TW" dirty="0"/>
          </a:p>
          <a:p>
            <a:pPr algn="ctr"/>
            <a:endParaRPr lang="en-US" altLang="zh-TW" dirty="0"/>
          </a:p>
          <a:p>
            <a:pPr marL="0" indent="0" algn="ctr">
              <a:buNone/>
            </a:pPr>
            <a:r>
              <a:rPr lang="zh-TW" altLang="en-US" dirty="0">
                <a:solidFill>
                  <a:srgbClr val="FF0000"/>
                </a:solidFill>
              </a:rPr>
              <a:t>模型收斂效率降低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altLang="zh-TW" dirty="0"/>
          </a:p>
          <a:p>
            <a:pPr marL="457200" indent="-457200">
              <a:buFont typeface="+mj-lt"/>
              <a:buAutoNum type="arabicPeriod" startAt="2"/>
            </a:pPr>
            <a:r>
              <a:rPr lang="zh-TW" altLang="en-US" b="1" dirty="0"/>
              <a:t>惡意客戶端攻擊</a:t>
            </a:r>
            <a:r>
              <a:rPr lang="zh-TW" altLang="en-US" dirty="0"/>
              <a:t>：部分 </a:t>
            </a:r>
            <a:r>
              <a:rPr lang="en-US" altLang="zh-TW" dirty="0"/>
              <a:t>Client</a:t>
            </a:r>
            <a:r>
              <a:rPr lang="zh-TW" altLang="en-US" dirty="0"/>
              <a:t> 端可能回傳被汙染或異常的模型，影響 </a:t>
            </a:r>
            <a:r>
              <a:rPr lang="en-US" altLang="zh-TW" dirty="0"/>
              <a:t>Global Model</a:t>
            </a:r>
          </a:p>
          <a:p>
            <a:endParaRPr lang="en-US" altLang="zh-TW" dirty="0"/>
          </a:p>
          <a:p>
            <a:pPr marL="0" indent="0" algn="ctr">
              <a:buNone/>
            </a:pPr>
            <a:r>
              <a:rPr lang="zh-TW" altLang="en-US" dirty="0">
                <a:solidFill>
                  <a:srgbClr val="FF0000"/>
                </a:solidFill>
              </a:rPr>
              <a:t>模型辨識準確率降低</a:t>
            </a:r>
          </a:p>
        </p:txBody>
      </p:sp>
      <p:sp>
        <p:nvSpPr>
          <p:cNvPr id="4" name="箭號: 向下 3">
            <a:extLst>
              <a:ext uri="{FF2B5EF4-FFF2-40B4-BE49-F238E27FC236}">
                <a16:creationId xmlns:a16="http://schemas.microsoft.com/office/drawing/2014/main" id="{F81DCABB-0746-B11C-00F7-F866FFA47F46}"/>
              </a:ext>
            </a:extLst>
          </p:cNvPr>
          <p:cNvSpPr/>
          <p:nvPr/>
        </p:nvSpPr>
        <p:spPr>
          <a:xfrm>
            <a:off x="6000344" y="2243847"/>
            <a:ext cx="191311" cy="47989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下 4">
            <a:extLst>
              <a:ext uri="{FF2B5EF4-FFF2-40B4-BE49-F238E27FC236}">
                <a16:creationId xmlns:a16="http://schemas.microsoft.com/office/drawing/2014/main" id="{707FAE25-2CFA-A780-E76B-D561EA08DFB8}"/>
              </a:ext>
            </a:extLst>
          </p:cNvPr>
          <p:cNvSpPr/>
          <p:nvPr/>
        </p:nvSpPr>
        <p:spPr>
          <a:xfrm>
            <a:off x="6000344" y="4056470"/>
            <a:ext cx="191311" cy="47989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B63FF4-6F25-36A7-0372-F39A8847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3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9E8F2-7531-39C7-F3FE-9AFD8912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9719BB-64F7-3543-77B5-2D4CD9F3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建立一個聯邦學習環境，模擬多個 </a:t>
            </a:r>
            <a:r>
              <a:rPr lang="en-US" altLang="zh-TW" dirty="0"/>
              <a:t>Client </a:t>
            </a:r>
            <a:r>
              <a:rPr lang="zh-TW" altLang="en-US" dirty="0"/>
              <a:t>共同訓練模型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使用 </a:t>
            </a:r>
            <a:r>
              <a:rPr lang="en-US" altLang="zh-TW" dirty="0"/>
              <a:t>Non-IID </a:t>
            </a:r>
            <a:r>
              <a:rPr lang="zh-TW" altLang="en-US" dirty="0"/>
              <a:t>資料分布，模擬不同 </a:t>
            </a:r>
            <a:r>
              <a:rPr lang="en-US" altLang="zh-TW" dirty="0"/>
              <a:t>Client </a:t>
            </a:r>
            <a:r>
              <a:rPr lang="zh-TW" altLang="en-US" dirty="0"/>
              <a:t>資料類別比例不一致的情況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加入標籤翻轉攻擊，觀察惡意 </a:t>
            </a:r>
            <a:r>
              <a:rPr lang="en-US" altLang="zh-TW" dirty="0"/>
              <a:t>Client </a:t>
            </a:r>
            <a:r>
              <a:rPr lang="zh-TW" altLang="en-US" dirty="0"/>
              <a:t>對 </a:t>
            </a:r>
            <a:r>
              <a:rPr lang="en-US" altLang="zh-TW" dirty="0"/>
              <a:t>Global Model </a:t>
            </a:r>
            <a:r>
              <a:rPr lang="zh-TW" altLang="en-US" dirty="0"/>
              <a:t>的影響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透過 </a:t>
            </a:r>
            <a:r>
              <a:rPr lang="en-US" altLang="zh-TW" dirty="0" err="1"/>
              <a:t>KMeans</a:t>
            </a:r>
            <a:r>
              <a:rPr lang="en-US" altLang="zh-TW" dirty="0"/>
              <a:t> </a:t>
            </a:r>
            <a:r>
              <a:rPr lang="zh-TW" altLang="en-US" dirty="0"/>
              <a:t>分群，將模型更新特徵相近的 </a:t>
            </a:r>
            <a:r>
              <a:rPr lang="en-US" altLang="zh-TW" dirty="0"/>
              <a:t>Client </a:t>
            </a:r>
            <a:r>
              <a:rPr lang="zh-TW" altLang="en-US" dirty="0"/>
              <a:t>分在同一群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結合強化學習機制，根據異常分數調整聚合權重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觀察此架構是否能降低惡意 </a:t>
            </a:r>
            <a:r>
              <a:rPr lang="en-US" altLang="zh-TW" dirty="0"/>
              <a:t>Client </a:t>
            </a:r>
            <a:r>
              <a:rPr lang="zh-TW" altLang="en-US" dirty="0"/>
              <a:t>對模型準確率的影響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2E13BE-8118-067A-1B43-C3FA0560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2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E5B83-B19A-4D9D-FF27-3BB0BDCC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Calibri"/>
              </a:rPr>
              <a:t>資料集類別</a:t>
            </a:r>
            <a:br>
              <a:rPr lang="en-US" altLang="zh-TW" dirty="0">
                <a:cs typeface="Calibri"/>
              </a:rPr>
            </a:b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MNIST </a:t>
            </a:r>
            <a:r>
              <a:rPr lang="zh-TW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手寫數字資料集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52BC20-2C43-E9FA-496E-7142C5998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b="1" dirty="0">
                <a:cs typeface="Calibri"/>
              </a:rPr>
              <a:t>影像內容</a:t>
            </a:r>
            <a:r>
              <a:rPr lang="zh-TW" altLang="en-US" dirty="0">
                <a:cs typeface="Calibri"/>
              </a:rPr>
              <a:t>：</a:t>
            </a:r>
            <a:r>
              <a:rPr lang="en-US" altLang="zh-TW" dirty="0">
                <a:cs typeface="Calibri"/>
              </a:rPr>
              <a:t>0~9</a:t>
            </a:r>
            <a:r>
              <a:rPr lang="zh-TW" altLang="en-US" dirty="0">
                <a:cs typeface="Calibri"/>
              </a:rPr>
              <a:t> 的手寫數字圖片</a:t>
            </a:r>
            <a:endParaRPr lang="en-US" altLang="zh-TW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b="1" dirty="0">
                <a:cs typeface="Calibri"/>
              </a:rPr>
              <a:t>類別數量</a:t>
            </a:r>
            <a:r>
              <a:rPr lang="zh-TW" altLang="en-US" dirty="0">
                <a:cs typeface="Calibri"/>
              </a:rPr>
              <a:t>：共 </a:t>
            </a:r>
            <a:r>
              <a:rPr lang="en-US" altLang="zh-TW" dirty="0">
                <a:cs typeface="Calibri"/>
              </a:rPr>
              <a:t>10 </a:t>
            </a:r>
            <a:r>
              <a:rPr lang="zh-TW" altLang="en-US" dirty="0">
                <a:cs typeface="Calibri"/>
              </a:rPr>
              <a:t>類</a:t>
            </a:r>
            <a:endParaRPr lang="en-US" altLang="zh-TW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b="1" dirty="0">
                <a:cs typeface="Calibri"/>
              </a:rPr>
              <a:t>圖片大小</a:t>
            </a:r>
            <a:r>
              <a:rPr lang="zh-TW" altLang="en-US" dirty="0">
                <a:cs typeface="Calibri"/>
              </a:rPr>
              <a:t>：</a:t>
            </a:r>
            <a:r>
              <a:rPr lang="en-US" altLang="zh-TW" dirty="0">
                <a:cs typeface="Calibri"/>
              </a:rPr>
              <a:t>28 × 28 </a:t>
            </a:r>
            <a:r>
              <a:rPr lang="zh-TW" altLang="en-US" dirty="0">
                <a:cs typeface="Calibri"/>
              </a:rPr>
              <a:t>灰階影像</a:t>
            </a:r>
            <a:endParaRPr lang="en-US" altLang="zh-TW" dirty="0">
              <a:cs typeface="Calibri"/>
            </a:endParaRPr>
          </a:p>
          <a:p>
            <a:pPr marL="514350" indent="-285750">
              <a:lnSpc>
                <a:spcPct val="10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Calibri"/>
              <a:buChar char="●"/>
            </a:pPr>
            <a:r>
              <a:rPr lang="zh-TW" altLang="en-US" b="1" dirty="0">
                <a:cs typeface="Calibri"/>
              </a:rPr>
              <a:t>訓練目標</a:t>
            </a:r>
            <a:r>
              <a:rPr lang="zh-TW" altLang="en-US" dirty="0">
                <a:cs typeface="Calibri"/>
              </a:rPr>
              <a:t>：讓 </a:t>
            </a:r>
            <a:r>
              <a:rPr lang="en-US" altLang="zh-TW" dirty="0">
                <a:cs typeface="Calibri"/>
              </a:rPr>
              <a:t>Client </a:t>
            </a:r>
            <a:r>
              <a:rPr lang="zh-TW" altLang="en-US" dirty="0">
                <a:cs typeface="Calibri"/>
              </a:rPr>
              <a:t>端判斷圖片是哪一個數字</a:t>
            </a:r>
            <a:endParaRPr lang="en-US" altLang="zh-TW" dirty="0">
              <a:cs typeface="Calibri"/>
            </a:endParaRP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 descr="GitHub - cazala/mnist: mnist digits in javascript · GitHub">
            <a:extLst>
              <a:ext uri="{FF2B5EF4-FFF2-40B4-BE49-F238E27FC236}">
                <a16:creationId xmlns:a16="http://schemas.microsoft.com/office/drawing/2014/main" id="{138C7946-38A0-9110-63DC-EE02693F3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643" y="2142914"/>
            <a:ext cx="45720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ECC400-9D38-698E-3CDE-32DE22C1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4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AD7DA-70CF-851E-5ECF-C2C75FB5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Calibri"/>
              </a:rPr>
              <a:t>攻擊方式</a:t>
            </a:r>
            <a:br>
              <a:rPr lang="en-US" altLang="zh-TW" dirty="0">
                <a:cs typeface="Calibri"/>
              </a:rPr>
            </a:br>
            <a:r>
              <a:rPr lang="zh-TW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標籤翻轉攻擊 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(Label-flipping attack)</a:t>
            </a:r>
            <a:endParaRPr lang="zh-TW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57D75-6A7D-0FE8-65FD-8AA2E6CE0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惡意 </a:t>
            </a:r>
            <a:r>
              <a:rPr lang="en-US" altLang="zh-TW" dirty="0"/>
              <a:t>Client</a:t>
            </a:r>
            <a:r>
              <a:rPr lang="zh-TW" altLang="en-US" dirty="0"/>
              <a:t> 只會改變訓練資料的標籤，不會改變資料本身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     導致訓練完的模型學習到錯誤的分類規則</a:t>
            </a:r>
          </a:p>
        </p:txBody>
      </p:sp>
      <p:pic>
        <p:nvPicPr>
          <p:cNvPr id="4" name="Picture 2" descr="3.3. The MNIST Dataset — conx 3.7.9 documentation">
            <a:extLst>
              <a:ext uri="{FF2B5EF4-FFF2-40B4-BE49-F238E27FC236}">
                <a16:creationId xmlns:a16="http://schemas.microsoft.com/office/drawing/2014/main" id="{4F8BA7DB-CB8B-2B2A-5BCB-1D3909FF8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4230794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EAACC48-B37C-D5B4-B1A8-3FC71E0A0DD9}"/>
              </a:ext>
            </a:extLst>
          </p:cNvPr>
          <p:cNvSpPr txBox="1"/>
          <p:nvPr/>
        </p:nvSpPr>
        <p:spPr>
          <a:xfrm>
            <a:off x="4799796" y="586268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Label 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7D60874-F497-6CF9-6440-2131F3F24F0F}"/>
              </a:ext>
            </a:extLst>
          </p:cNvPr>
          <p:cNvCxnSpPr/>
          <p:nvPr/>
        </p:nvCxnSpPr>
        <p:spPr>
          <a:xfrm>
            <a:off x="4961104" y="5911197"/>
            <a:ext cx="693907" cy="27230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82608E3-0F98-3583-4DA1-72627FB3F6F2}"/>
              </a:ext>
            </a:extLst>
          </p:cNvPr>
          <p:cNvCxnSpPr>
            <a:cxnSpLocks/>
          </p:cNvCxnSpPr>
          <p:nvPr/>
        </p:nvCxnSpPr>
        <p:spPr>
          <a:xfrm flipV="1">
            <a:off x="4968814" y="5911197"/>
            <a:ext cx="640397" cy="29175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C21B405-EEAF-E08B-8B70-999C6A4F27BA}"/>
              </a:ext>
            </a:extLst>
          </p:cNvPr>
          <p:cNvCxnSpPr/>
          <p:nvPr/>
        </p:nvCxnSpPr>
        <p:spPr>
          <a:xfrm>
            <a:off x="5831407" y="6057075"/>
            <a:ext cx="5901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89E0C2B-306A-24FC-BD65-E715DA4166F8}"/>
              </a:ext>
            </a:extLst>
          </p:cNvPr>
          <p:cNvSpPr txBox="1"/>
          <p:nvPr/>
        </p:nvSpPr>
        <p:spPr>
          <a:xfrm>
            <a:off x="6421552" y="583362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Label 7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箭號: 上彎 13">
            <a:extLst>
              <a:ext uri="{FF2B5EF4-FFF2-40B4-BE49-F238E27FC236}">
                <a16:creationId xmlns:a16="http://schemas.microsoft.com/office/drawing/2014/main" id="{A467AACD-EAA6-702C-A576-AE520B3824C0}"/>
              </a:ext>
            </a:extLst>
          </p:cNvPr>
          <p:cNvSpPr/>
          <p:nvPr/>
        </p:nvSpPr>
        <p:spPr>
          <a:xfrm rot="5400000">
            <a:off x="1278863" y="2263390"/>
            <a:ext cx="264592" cy="239948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9FD72164-B706-7A18-FB09-A9C232EC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33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BB7397-2679-A04D-D76F-76CF0E62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Calibri"/>
              </a:rPr>
              <a:t>實驗設計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D709FFF-5997-1C9E-C71D-CEDC83548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45418"/>
              </p:ext>
            </p:extLst>
          </p:nvPr>
        </p:nvGraphicFramePr>
        <p:xfrm>
          <a:off x="1096963" y="1846263"/>
          <a:ext cx="100584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135">
                  <a:extLst>
                    <a:ext uri="{9D8B030D-6E8A-4147-A177-3AD203B41FA5}">
                      <a16:colId xmlns:a16="http://schemas.microsoft.com/office/drawing/2014/main" val="3872591511"/>
                    </a:ext>
                  </a:extLst>
                </a:gridCol>
                <a:gridCol w="7932265">
                  <a:extLst>
                    <a:ext uri="{9D8B030D-6E8A-4147-A177-3AD203B41FA5}">
                      <a16:colId xmlns:a16="http://schemas.microsoft.com/office/drawing/2014/main" val="2648929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類別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設定內容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76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開發語言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42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聯邦學習框架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Flower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821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深度學習框架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TensorFlow / Keras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77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資料集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MNIST </a:t>
                      </a:r>
                      <a:r>
                        <a:rPr lang="zh-TW" alt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手寫數字資料集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931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模型架構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CNN </a:t>
                      </a:r>
                      <a:r>
                        <a:rPr lang="zh-TW" alt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卷積神經網路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37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Client </a:t>
                      </a: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10 </a:t>
                      </a:r>
                      <a:r>
                        <a:rPr lang="zh-TW" alt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個 </a:t>
                      </a:r>
                      <a:r>
                        <a:rPr 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Clients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4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資料分布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Non-IID </a:t>
                      </a:r>
                      <a:r>
                        <a:rPr lang="zh-TW" alt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資料分布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06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攻擊方式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Label Flipping Attack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63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惡意 </a:t>
                      </a:r>
                      <a:r>
                        <a:rPr lang="en-US" sz="2000" b="1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Client </a:t>
                      </a:r>
                      <a:r>
                        <a:rPr lang="zh-TW" altLang="en-US" sz="2000" b="1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10%~40%</a:t>
                      </a:r>
                      <a:r>
                        <a:rPr lang="zh-TW" alt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，</a:t>
                      </a:r>
                      <a:r>
                        <a:rPr lang="en-US" altLang="zh-TW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10 </a:t>
                      </a:r>
                      <a:r>
                        <a:rPr lang="zh-TW" alt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個 </a:t>
                      </a:r>
                      <a:r>
                        <a:rPr lang="en-US" altLang="zh-TW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Clients </a:t>
                      </a:r>
                      <a:r>
                        <a:rPr lang="zh-TW" alt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中有 </a:t>
                      </a:r>
                      <a:r>
                        <a:rPr lang="en-US" altLang="zh-TW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1~4</a:t>
                      </a:r>
                      <a:r>
                        <a:rPr lang="zh-TW" alt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 個惡意 </a:t>
                      </a:r>
                      <a:r>
                        <a:rPr lang="en-US" altLang="zh-TW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Clients</a:t>
                      </a:r>
                      <a:endParaRPr lang="en-US" sz="2000" dirty="0">
                        <a:latin typeface="微軟正黑體 Light" panose="020B0304030504040204" pitchFamily="34" charset="-120"/>
                        <a:ea typeface="微軟正黑體 Light" panose="020B03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8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000" b="1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訓練回合數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50</a:t>
                      </a:r>
                      <a:r>
                        <a:rPr lang="zh-TW" altLang="en-US" sz="2000" dirty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a:t> 輪</a:t>
                      </a:r>
                      <a:endParaRPr lang="en-US" sz="2000" dirty="0">
                        <a:latin typeface="微軟正黑體 Light" panose="020B0304030504040204" pitchFamily="34" charset="-120"/>
                        <a:ea typeface="微軟正黑體 Light" panose="020B03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350880"/>
                  </a:ext>
                </a:extLst>
              </a:tr>
            </a:tbl>
          </a:graphicData>
        </a:graphic>
      </p:graphicFrame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2C4BA-8926-310C-416C-25D6FDC2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4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D6785-EEE5-479D-D61A-50C9C2F1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Calibri"/>
              </a:rPr>
              <a:t>實驗結果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121EB0-DF70-5A69-0C53-415BB7FDA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表格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074A5B-6178-BD4B-7EEA-3F95CA99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40391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7539af-3031-452c-b312-b1deff7f842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56DCF44510943997A61FD6C0D5975" ma:contentTypeVersion="6" ma:contentTypeDescription="Create a new document." ma:contentTypeScope="" ma:versionID="c67acc237e1f2d5d33ff3fe86b4d47f4">
  <xsd:schema xmlns:xsd="http://www.w3.org/2001/XMLSchema" xmlns:xs="http://www.w3.org/2001/XMLSchema" xmlns:p="http://schemas.microsoft.com/office/2006/metadata/properties" xmlns:ns3="537539af-3031-452c-b312-b1deff7f842f" targetNamespace="http://schemas.microsoft.com/office/2006/metadata/properties" ma:root="true" ma:fieldsID="0ead2b3003b684b2150bc8fc5b2b8984" ns3:_="">
    <xsd:import namespace="537539af-3031-452c-b312-b1deff7f84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539af-3031-452c-b312-b1deff7f84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FCD23B-C5C1-4CD2-88A9-A0747602387D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537539af-3031-452c-b312-b1deff7f842f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AD226D9-0837-49EC-92C8-81B88248B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7539af-3031-452c-b312-b1deff7f84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B8BFD8-0CA4-4A4E-9909-25E29ADABA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</TotalTime>
  <Words>392</Words>
  <Application>Microsoft Macintosh PowerPoint</Application>
  <PresentationFormat>寬螢幕</PresentationFormat>
  <Paragraphs>72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Microsoft JhengHei</vt:lpstr>
      <vt:lpstr>微軟正黑體 Light</vt:lpstr>
      <vt:lpstr>Aptos</vt:lpstr>
      <vt:lpstr>Calibri</vt:lpstr>
      <vt:lpstr>Calibri Light</vt:lpstr>
      <vt:lpstr>回顧</vt:lpstr>
      <vt:lpstr>結合分群聚合與強化學習偵測惡意客戶端的聯邦學習架構 A Federated Learning Framework Combining Clustering-Based Aggregation and Reinforcement Learning-Based Malicious Client Detection</vt:lpstr>
      <vt:lpstr>大綱</vt:lpstr>
      <vt:lpstr>實驗背景</vt:lpstr>
      <vt:lpstr>實驗動機</vt:lpstr>
      <vt:lpstr>實驗目標</vt:lpstr>
      <vt:lpstr>資料集類別 MNIST 手寫數字資料集</vt:lpstr>
      <vt:lpstr>攻擊方式 標籤翻轉攻擊 (Label-flipping attack)</vt:lpstr>
      <vt:lpstr>實驗設計</vt:lpstr>
      <vt:lpstr>實驗結果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auguh019</dc:creator>
  <cp:lastModifiedBy>auguh019</cp:lastModifiedBy>
  <cp:revision>2</cp:revision>
  <dcterms:created xsi:type="dcterms:W3CDTF">2026-05-26T15:20:42Z</dcterms:created>
  <dcterms:modified xsi:type="dcterms:W3CDTF">2026-05-27T05:46:32Z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0x010100C0F56DCF44510943997A61FD6C0D5975</vt:lpwstr>
  </property>
</Properties>
</file>